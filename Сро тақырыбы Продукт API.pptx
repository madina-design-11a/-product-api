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1524000"/>
            <a:ext cx="7543800" cy="1905000"/>
          </a:xfrm>
          <a:prstGeom prst="rect">
            <a:avLst/>
          </a:prstGeom>
          <a:noFill/>
        </p:spPr>
        <p:txBody>
          <a:bodyPr wrap="square" anchor="b">
            <a:spAutoFit/>
          </a:bodyPr>
          <a:lstStyle/>
          <a:p>
            <a:pPr algn="l">
              <a:defRPr sz="4400" b="1" i="0">
                <a:solidFill>
                  <a:srgbClr val="F98AC7"/>
                </a:solidFill>
                <a:latin typeface="Lora"/>
              </a:defRPr>
            </a:pPr>
            <a:r>
              <a:t>API өнімді зерттеу</a:t>
            </a:r>
          </a:p>
        </p:txBody>
      </p:sp>
      <p:sp>
        <p:nvSpPr>
          <p:cNvPr id="4" name="TextBox 3"/>
          <p:cNvSpPr txBox="1"/>
          <p:nvPr/>
        </p:nvSpPr>
        <p:spPr>
          <a:xfrm>
            <a:off x="6273800" y="3937000"/>
            <a:ext cx="7543800" cy="1803400"/>
          </a:xfrm>
          <a:prstGeom prst="rect">
            <a:avLst/>
          </a:prstGeom>
          <a:noFill/>
        </p:spPr>
        <p:txBody>
          <a:bodyPr wrap="square" anchor="t">
            <a:spAutoFit/>
          </a:bodyPr>
          <a:lstStyle/>
          <a:p>
            <a:pPr algn="l">
              <a:defRPr sz="1800" b="0" i="0">
                <a:solidFill>
                  <a:srgbClr val="D6E5EF"/>
                </a:solidFill>
                <a:latin typeface="Source Sans Pro"/>
              </a:defRPr>
            </a:pPr>
            <a:r>
              <a:t>Бұл презентация API-лердің бизнес әлеміндегі рөлін, олардың артықшылықтарын, түрлерін, экономикасын, стратегиясын, қауіпсіздігін және болашағын зерттейді. API (Application Programming Interface) екі бағдарламаның өзара байланысуына мүмкіндік беретін ережелер мен стандарттар жиынтығы болып табылады. Мысалы, метеорологиялық қызметтерден деректер алатын ауа райы қосымшасы API-ді қолданады. API-лер компанияларға жаңа өнімдерді жылдам әзірлеуге, бәсекеге қабілеттілікті арттыруға және үшінші тарап әзірлеушілеріне платформаны интеграциялауға мүмкіндік береді. Сонымен қатар, API-лер деректер алмасуды автоматтандыру арқылы операциялық тиімділікті арттырып, шығындарды азайтады. Бұл зерттеу API-лердің бизнес процестерін жақсартудағы маңыздылығын ашады.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F98AC7"/>
                </a:solidFill>
                <a:latin typeface="Lora"/>
              </a:defRPr>
            </a:pPr>
            <a:r>
              <a:t>API дегеніміз не?</a:t>
            </a:r>
          </a:p>
        </p:txBody>
      </p:sp>
      <p:sp>
        <p:nvSpPr>
          <p:cNvPr id="4" name="Rounded Rectangle 3"/>
          <p:cNvSpPr/>
          <p:nvPr/>
        </p:nvSpPr>
        <p:spPr>
          <a:xfrm>
            <a:off x="7620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D6E5EF"/>
                </a:solidFill>
                <a:latin typeface="Lora"/>
              </a:defRPr>
            </a:pPr>
            <a:r>
              <a:t>API анықтамасы</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API (Application Programming Interface) – бұл екі немесе одан да көп бағдарламалар арасындағы өзара әрекеттесуге арналған интерфейс. Ол бағдарламалардың бір-бірімен белгілі бір ережелер мен стандарттар арқылы байланысуына мүмкіндік береді.</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D6E5EF"/>
                </a:solidFill>
                <a:latin typeface="Lora"/>
              </a:defRPr>
            </a:pPr>
            <a:r>
              <a:t>Мысал</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Ауа райын көрсететін мобильді қосымша API арқылы метеорологиялық қызметтер серверінен ағымдағы деректерді сұрап алады, содан кейін бұл ақпаратты пайдаланушыға ыңғайлы форматта ұсынады.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889000" y="977900"/>
            <a:ext cx="12700000" cy="762000"/>
          </a:xfrm>
          <a:prstGeom prst="rect">
            <a:avLst/>
          </a:prstGeom>
          <a:noFill/>
        </p:spPr>
        <p:txBody>
          <a:bodyPr wrap="square" anchor="t">
            <a:spAutoFit/>
          </a:bodyPr>
          <a:lstStyle/>
          <a:p>
            <a:pPr algn="l">
              <a:defRPr sz="4400" b="1" i="0">
                <a:solidFill>
                  <a:srgbClr val="F98AC7"/>
                </a:solidFill>
                <a:latin typeface="Lora"/>
              </a:defRPr>
            </a:pPr>
            <a:r>
              <a:t>API-дің бизнес артықшылықтары</a:t>
            </a:r>
          </a:p>
        </p:txBody>
      </p:sp>
      <p:sp>
        <p:nvSpPr>
          <p:cNvPr id="3" name="Rounded Rectangle 2"/>
          <p:cNvSpPr/>
          <p:nvPr/>
        </p:nvSpPr>
        <p:spPr>
          <a:xfrm>
            <a:off x="1079500" y="4502150"/>
            <a:ext cx="129921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46550" y="40386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34250" y="46609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09250" y="40386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9370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247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997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1400" y="2095500"/>
            <a:ext cx="6083300" cy="431800"/>
          </a:xfrm>
          <a:prstGeom prst="rect">
            <a:avLst/>
          </a:prstGeom>
          <a:noFill/>
        </p:spPr>
        <p:txBody>
          <a:bodyPr wrap="square" anchor="t">
            <a:spAutoFit/>
          </a:bodyPr>
          <a:lstStyle/>
          <a:p>
            <a:pPr algn="ctr">
              <a:defRPr sz="2200" b="1" i="0">
                <a:solidFill>
                  <a:srgbClr val="D6E5EF"/>
                </a:solidFill>
                <a:latin typeface="Lora"/>
              </a:defRPr>
            </a:pPr>
            <a:r>
              <a:t>Жылдам әзірлеу</a:t>
            </a:r>
          </a:p>
        </p:txBody>
      </p:sp>
      <p:sp>
        <p:nvSpPr>
          <p:cNvPr id="11" name="TextBox 10"/>
          <p:cNvSpPr txBox="1"/>
          <p:nvPr/>
        </p:nvSpPr>
        <p:spPr>
          <a:xfrm>
            <a:off x="1041400" y="2730500"/>
            <a:ext cx="6083300" cy="1143000"/>
          </a:xfrm>
          <a:prstGeom prst="rect">
            <a:avLst/>
          </a:prstGeom>
          <a:noFill/>
        </p:spPr>
        <p:txBody>
          <a:bodyPr wrap="square" anchor="t">
            <a:spAutoFit/>
          </a:bodyPr>
          <a:lstStyle/>
          <a:p>
            <a:pPr algn="ctr">
              <a:defRPr sz="1800" b="0" i="0">
                <a:solidFill>
                  <a:srgbClr val="D6E5EF"/>
                </a:solidFill>
                <a:latin typeface="Source Sans Pro"/>
              </a:defRPr>
            </a:pPr>
            <a:r>
              <a:t>API-лер жаңа өнімдер мен қызметтерді бұрынғыдан жылдам әзірлеуге мүмкіндік береді. Бұл нарықтағы бәсекелестік артықшылықты арттырады.</a:t>
            </a:r>
          </a:p>
        </p:txBody>
      </p:sp>
      <p:pic>
        <p:nvPicPr>
          <p:cNvPr id="12" name="Picture 11" descr="image.png"/>
          <p:cNvPicPr>
            <a:picLocks noChangeAspect="1"/>
          </p:cNvPicPr>
          <p:nvPr/>
        </p:nvPicPr>
        <p:blipFill>
          <a:blip r:embed="rId2"/>
          <a:stretch>
            <a:fillRect/>
          </a:stretch>
        </p:blipFill>
        <p:spPr>
          <a:xfrm>
            <a:off x="4025900" y="4381500"/>
            <a:ext cx="254000" cy="254000"/>
          </a:xfrm>
          <a:prstGeom prst="rect">
            <a:avLst/>
          </a:prstGeom>
        </p:spPr>
      </p:pic>
      <p:sp>
        <p:nvSpPr>
          <p:cNvPr id="13" name="TextBox 12"/>
          <p:cNvSpPr txBox="1"/>
          <p:nvPr/>
        </p:nvSpPr>
        <p:spPr>
          <a:xfrm>
            <a:off x="4267200" y="5207000"/>
            <a:ext cx="6083300" cy="431800"/>
          </a:xfrm>
          <a:prstGeom prst="rect">
            <a:avLst/>
          </a:prstGeom>
          <a:noFill/>
        </p:spPr>
        <p:txBody>
          <a:bodyPr wrap="square" anchor="t">
            <a:spAutoFit/>
          </a:bodyPr>
          <a:lstStyle/>
          <a:p>
            <a:pPr algn="ctr">
              <a:defRPr sz="2200" b="1" i="0">
                <a:solidFill>
                  <a:srgbClr val="D6E5EF"/>
                </a:solidFill>
                <a:latin typeface="Lora"/>
              </a:defRPr>
            </a:pPr>
            <a:r>
              <a:t>Клиенттерге қолжетімділік</a:t>
            </a:r>
          </a:p>
        </p:txBody>
      </p:sp>
      <p:sp>
        <p:nvSpPr>
          <p:cNvPr id="14" name="TextBox 13"/>
          <p:cNvSpPr txBox="1"/>
          <p:nvPr/>
        </p:nvSpPr>
        <p:spPr>
          <a:xfrm>
            <a:off x="4267200" y="5727700"/>
            <a:ext cx="6083300" cy="1143000"/>
          </a:xfrm>
          <a:prstGeom prst="rect">
            <a:avLst/>
          </a:prstGeom>
          <a:noFill/>
        </p:spPr>
        <p:txBody>
          <a:bodyPr wrap="square" anchor="t">
            <a:spAutoFit/>
          </a:bodyPr>
          <a:lstStyle/>
          <a:p>
            <a:pPr algn="ctr">
              <a:defRPr sz="1800" b="0" i="0">
                <a:solidFill>
                  <a:srgbClr val="D6E5EF"/>
                </a:solidFill>
                <a:latin typeface="Source Sans Pro"/>
              </a:defRPr>
            </a:pPr>
            <a:r>
              <a:t>Үшінші тарап әзірлеушілері API арқылы өз өнімдерін интеграциялай алады. Бұл жаңа клиенттік аудиторияға қолжетімділікті кеңейтеді.</a:t>
            </a:r>
          </a:p>
        </p:txBody>
      </p:sp>
      <p:pic>
        <p:nvPicPr>
          <p:cNvPr id="15" name="Picture 14" descr="image.png"/>
          <p:cNvPicPr>
            <a:picLocks noChangeAspect="1"/>
          </p:cNvPicPr>
          <p:nvPr/>
        </p:nvPicPr>
        <p:blipFill>
          <a:blip r:embed="rId3"/>
          <a:stretch>
            <a:fillRect/>
          </a:stretch>
        </p:blipFill>
        <p:spPr>
          <a:xfrm>
            <a:off x="7213600" y="4381500"/>
            <a:ext cx="254000" cy="254000"/>
          </a:xfrm>
          <a:prstGeom prst="rect">
            <a:avLst/>
          </a:prstGeom>
        </p:spPr>
      </p:pic>
      <p:sp>
        <p:nvSpPr>
          <p:cNvPr id="16" name="TextBox 15"/>
          <p:cNvSpPr txBox="1"/>
          <p:nvPr/>
        </p:nvSpPr>
        <p:spPr>
          <a:xfrm>
            <a:off x="7505700" y="2120900"/>
            <a:ext cx="6083300" cy="431800"/>
          </a:xfrm>
          <a:prstGeom prst="rect">
            <a:avLst/>
          </a:prstGeom>
          <a:noFill/>
        </p:spPr>
        <p:txBody>
          <a:bodyPr wrap="square" anchor="t">
            <a:spAutoFit/>
          </a:bodyPr>
          <a:lstStyle/>
          <a:p>
            <a:pPr algn="ctr">
              <a:defRPr sz="2200" b="1" i="0">
                <a:solidFill>
                  <a:srgbClr val="D6E5EF"/>
                </a:solidFill>
                <a:latin typeface="Lora"/>
              </a:defRPr>
            </a:pPr>
            <a:r>
              <a:t>Тиімділік</a:t>
            </a:r>
          </a:p>
        </p:txBody>
      </p:sp>
      <p:sp>
        <p:nvSpPr>
          <p:cNvPr id="17" name="TextBox 16"/>
          <p:cNvSpPr txBox="1"/>
          <p:nvPr/>
        </p:nvSpPr>
        <p:spPr>
          <a:xfrm>
            <a:off x="7505700" y="2730500"/>
            <a:ext cx="6083300" cy="1143000"/>
          </a:xfrm>
          <a:prstGeom prst="rect">
            <a:avLst/>
          </a:prstGeom>
          <a:noFill/>
        </p:spPr>
        <p:txBody>
          <a:bodyPr wrap="square" anchor="t">
            <a:spAutoFit/>
          </a:bodyPr>
          <a:lstStyle/>
          <a:p>
            <a:pPr algn="ctr">
              <a:defRPr sz="1800" b="0" i="0">
                <a:solidFill>
                  <a:srgbClr val="D6E5EF"/>
                </a:solidFill>
                <a:latin typeface="Source Sans Pro"/>
              </a:defRPr>
            </a:pPr>
            <a:r>
              <a:t>API-лер арқылы деректер алмасу автоматтандырылады. Бұл операциялық тиімділікті арттырады және әкімшілік шығындарды азайтады.</a:t>
            </a:r>
          </a:p>
        </p:txBody>
      </p:sp>
      <p:pic>
        <p:nvPicPr>
          <p:cNvPr id="18" name="Picture 17" descr="image.png"/>
          <p:cNvPicPr>
            <a:picLocks noChangeAspect="1"/>
          </p:cNvPicPr>
          <p:nvPr/>
        </p:nvPicPr>
        <p:blipFill>
          <a:blip r:embed="rId4"/>
          <a:stretch>
            <a:fillRect/>
          </a:stretch>
        </p:blipFill>
        <p:spPr>
          <a:xfrm>
            <a:off x="10388600" y="4381500"/>
            <a:ext cx="254000" cy="25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556000"/>
            <a:ext cx="12700000" cy="1270000"/>
          </a:xfrm>
          <a:prstGeom prst="rect">
            <a:avLst/>
          </a:prstGeom>
          <a:noFill/>
        </p:spPr>
        <p:txBody>
          <a:bodyPr wrap="square" anchor="t">
            <a:spAutoFit/>
          </a:bodyPr>
          <a:lstStyle/>
          <a:p>
            <a:pPr algn="l">
              <a:defRPr sz="4400" b="1" i="0">
                <a:solidFill>
                  <a:srgbClr val="F98AC7"/>
                </a:solidFill>
                <a:latin typeface="Lora"/>
              </a:defRPr>
            </a:pPr>
            <a:r>
              <a:t>API түрлері</a:t>
            </a:r>
          </a:p>
        </p:txBody>
      </p:sp>
      <p:sp>
        <p:nvSpPr>
          <p:cNvPr id="4" name="Rounded Rectangle 3"/>
          <p:cNvSpPr/>
          <p:nvPr/>
        </p:nvSpPr>
        <p:spPr>
          <a:xfrm>
            <a:off x="1073150" y="4508500"/>
            <a:ext cx="12700" cy="33020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47625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45085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1</a:t>
            </a:r>
          </a:p>
        </p:txBody>
      </p:sp>
      <p:sp>
        <p:nvSpPr>
          <p:cNvPr id="7" name="Rounded Rectangle 6"/>
          <p:cNvSpPr/>
          <p:nvPr/>
        </p:nvSpPr>
        <p:spPr>
          <a:xfrm>
            <a:off x="1270000" y="49466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5969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5702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2</a:t>
            </a:r>
          </a:p>
        </p:txBody>
      </p:sp>
      <p:sp>
        <p:nvSpPr>
          <p:cNvPr id="10" name="Rounded Rectangle 9"/>
          <p:cNvSpPr/>
          <p:nvPr/>
        </p:nvSpPr>
        <p:spPr>
          <a:xfrm>
            <a:off x="1270000" y="6153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7239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6972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3</a:t>
            </a:r>
          </a:p>
        </p:txBody>
      </p:sp>
      <p:sp>
        <p:nvSpPr>
          <p:cNvPr id="13" name="Rounded Rectangle 12"/>
          <p:cNvSpPr/>
          <p:nvPr/>
        </p:nvSpPr>
        <p:spPr>
          <a:xfrm>
            <a:off x="1270000" y="7423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4508500"/>
            <a:ext cx="12700000" cy="381000"/>
          </a:xfrm>
          <a:prstGeom prst="rect">
            <a:avLst/>
          </a:prstGeom>
          <a:noFill/>
        </p:spPr>
        <p:txBody>
          <a:bodyPr wrap="square" anchor="t">
            <a:spAutoFit/>
          </a:bodyPr>
          <a:lstStyle/>
          <a:p>
            <a:pPr algn="l">
              <a:defRPr sz="2200" b="1" i="0">
                <a:solidFill>
                  <a:srgbClr val="D6E5EF"/>
                </a:solidFill>
                <a:latin typeface="Lora"/>
              </a:defRPr>
            </a:pPr>
            <a:r>
              <a:t>RESTful API</a:t>
            </a:r>
          </a:p>
        </p:txBody>
      </p:sp>
      <p:sp>
        <p:nvSpPr>
          <p:cNvPr id="15" name="TextBox 14"/>
          <p:cNvSpPr txBox="1"/>
          <p:nvPr/>
        </p:nvSpPr>
        <p:spPr>
          <a:xfrm>
            <a:off x="1905000" y="4889500"/>
            <a:ext cx="12700000" cy="1143000"/>
          </a:xfrm>
          <a:prstGeom prst="rect">
            <a:avLst/>
          </a:prstGeom>
          <a:noFill/>
        </p:spPr>
        <p:txBody>
          <a:bodyPr wrap="square" anchor="t">
            <a:spAutoFit/>
          </a:bodyPr>
          <a:lstStyle/>
          <a:p>
            <a:pPr algn="l">
              <a:defRPr sz="1800" b="0" i="0">
                <a:solidFill>
                  <a:srgbClr val="D6E5EF"/>
                </a:solidFill>
                <a:latin typeface="Source Sans Pro"/>
              </a:defRPr>
            </a:pPr>
            <a:r>
              <a:t>Веб-сервистер үшін ең танымал стиль, қарапайымдылығымен және икемділігімен ерекшеленеді. HTTP протоколын қолданады.</a:t>
            </a:r>
          </a:p>
        </p:txBody>
      </p:sp>
      <p:sp>
        <p:nvSpPr>
          <p:cNvPr id="16" name="TextBox 15"/>
          <p:cNvSpPr txBox="1"/>
          <p:nvPr/>
        </p:nvSpPr>
        <p:spPr>
          <a:xfrm>
            <a:off x="1905000" y="5778500"/>
            <a:ext cx="12700000" cy="381000"/>
          </a:xfrm>
          <a:prstGeom prst="rect">
            <a:avLst/>
          </a:prstGeom>
          <a:noFill/>
        </p:spPr>
        <p:txBody>
          <a:bodyPr wrap="square" anchor="t">
            <a:spAutoFit/>
          </a:bodyPr>
          <a:lstStyle/>
          <a:p>
            <a:pPr algn="l">
              <a:defRPr sz="2200" b="1" i="0">
                <a:solidFill>
                  <a:srgbClr val="D6E5EF"/>
                </a:solidFill>
                <a:latin typeface="Lora"/>
              </a:defRPr>
            </a:pPr>
            <a:r>
              <a:t>SOAP API</a:t>
            </a:r>
          </a:p>
        </p:txBody>
      </p:sp>
      <p:sp>
        <p:nvSpPr>
          <p:cNvPr id="17" name="TextBox 16"/>
          <p:cNvSpPr txBox="1"/>
          <p:nvPr/>
        </p:nvSpPr>
        <p:spPr>
          <a:xfrm>
            <a:off x="1905000" y="6159500"/>
            <a:ext cx="12700000" cy="1143000"/>
          </a:xfrm>
          <a:prstGeom prst="rect">
            <a:avLst/>
          </a:prstGeom>
          <a:noFill/>
        </p:spPr>
        <p:txBody>
          <a:bodyPr wrap="square" anchor="t">
            <a:spAutoFit/>
          </a:bodyPr>
          <a:lstStyle/>
          <a:p>
            <a:pPr algn="l">
              <a:defRPr sz="1800" b="0" i="0">
                <a:solidFill>
                  <a:srgbClr val="D6E5EF"/>
                </a:solidFill>
                <a:latin typeface="Source Sans Pro"/>
              </a:defRPr>
            </a:pPr>
            <a:r>
              <a:t>XML негізінде жұмыс істейтін протокол. Жоғары сенімділік пен қауіпсіздікті қамтамасыз етеді, әсіресе корпоративтік ортада.</a:t>
            </a:r>
          </a:p>
        </p:txBody>
      </p:sp>
      <p:sp>
        <p:nvSpPr>
          <p:cNvPr id="18" name="TextBox 17"/>
          <p:cNvSpPr txBox="1"/>
          <p:nvPr/>
        </p:nvSpPr>
        <p:spPr>
          <a:xfrm>
            <a:off x="1905000" y="7048500"/>
            <a:ext cx="12700000" cy="381000"/>
          </a:xfrm>
          <a:prstGeom prst="rect">
            <a:avLst/>
          </a:prstGeom>
          <a:noFill/>
        </p:spPr>
        <p:txBody>
          <a:bodyPr wrap="square" anchor="t">
            <a:spAutoFit/>
          </a:bodyPr>
          <a:lstStyle/>
          <a:p>
            <a:pPr algn="l">
              <a:defRPr sz="2200" b="1" i="0">
                <a:solidFill>
                  <a:srgbClr val="D6E5EF"/>
                </a:solidFill>
                <a:latin typeface="Lora"/>
              </a:defRPr>
            </a:pPr>
            <a:r>
              <a:t>GraphQL API</a:t>
            </a:r>
          </a:p>
        </p:txBody>
      </p:sp>
      <p:sp>
        <p:nvSpPr>
          <p:cNvPr id="19" name="TextBox 18"/>
          <p:cNvSpPr txBox="1"/>
          <p:nvPr/>
        </p:nvSpPr>
        <p:spPr>
          <a:xfrm>
            <a:off x="1905000" y="7429500"/>
            <a:ext cx="12700000" cy="1143000"/>
          </a:xfrm>
          <a:prstGeom prst="rect">
            <a:avLst/>
          </a:prstGeom>
          <a:noFill/>
        </p:spPr>
        <p:txBody>
          <a:bodyPr wrap="square" anchor="t">
            <a:spAutoFit/>
          </a:bodyPr>
          <a:lstStyle/>
          <a:p>
            <a:pPr algn="l">
              <a:defRPr sz="1800" b="0" i="0">
                <a:solidFill>
                  <a:srgbClr val="D6E5EF"/>
                </a:solidFill>
                <a:latin typeface="Source Sans Pro"/>
              </a:defRPr>
            </a:pPr>
            <a:r>
              <a:t>Деректерді сұраудың жаңа әдісі. Тек қажетті ақпаратты алуға мүмкіндік береді, бұл трафикті және өңдеу уақытын үнемдейді.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F98AC7"/>
                </a:solidFill>
                <a:latin typeface="Lora"/>
              </a:defRPr>
            </a:pPr>
            <a:r>
              <a:t>API экономикасы</a:t>
            </a:r>
          </a:p>
        </p:txBody>
      </p:sp>
      <p:pic>
        <p:nvPicPr>
          <p:cNvPr id="3" name="Picture 2" descr="image.png"/>
          <p:cNvPicPr>
            <a:picLocks noChangeAspect="1"/>
          </p:cNvPicPr>
          <p:nvPr/>
        </p:nvPicPr>
        <p:blipFill>
          <a:blip r:embed="rId2"/>
          <a:stretch>
            <a:fillRect/>
          </a:stretch>
        </p:blipFill>
        <p:spPr>
          <a:xfrm>
            <a:off x="5156200" y="2540000"/>
            <a:ext cx="4318000" cy="4318000"/>
          </a:xfrm>
          <a:prstGeom prst="rect">
            <a:avLst/>
          </a:prstGeom>
        </p:spPr>
      </p:pic>
      <p:pic>
        <p:nvPicPr>
          <p:cNvPr id="4" name="Picture 3" descr="image.png"/>
          <p:cNvPicPr>
            <a:picLocks noChangeAspect="1"/>
          </p:cNvPicPr>
          <p:nvPr/>
        </p:nvPicPr>
        <p:blipFill>
          <a:blip r:embed="rId3"/>
          <a:stretch>
            <a:fillRect/>
          </a:stretch>
        </p:blipFill>
        <p:spPr>
          <a:xfrm>
            <a:off x="5156200" y="2540000"/>
            <a:ext cx="4318000" cy="4318000"/>
          </a:xfrm>
          <a:prstGeom prst="rect">
            <a:avLst/>
          </a:prstGeom>
        </p:spPr>
      </p:pic>
      <p:pic>
        <p:nvPicPr>
          <p:cNvPr id="5" name="Picture 4" descr="image.png"/>
          <p:cNvPicPr>
            <a:picLocks noChangeAspect="1"/>
          </p:cNvPicPr>
          <p:nvPr/>
        </p:nvPicPr>
        <p:blipFill>
          <a:blip r:embed="rId4"/>
          <a:stretch>
            <a:fillRect/>
          </a:stretch>
        </p:blipFill>
        <p:spPr>
          <a:xfrm>
            <a:off x="5156200" y="2540000"/>
            <a:ext cx="4318000" cy="4318000"/>
          </a:xfrm>
          <a:prstGeom prst="rect">
            <a:avLst/>
          </a:prstGeom>
        </p:spPr>
      </p:pic>
      <p:sp>
        <p:nvSpPr>
          <p:cNvPr id="6" name="TextBox 5"/>
          <p:cNvSpPr txBox="1"/>
          <p:nvPr/>
        </p:nvSpPr>
        <p:spPr>
          <a:xfrm>
            <a:off x="762000" y="3556000"/>
            <a:ext cx="4064000" cy="381000"/>
          </a:xfrm>
          <a:prstGeom prst="rect">
            <a:avLst/>
          </a:prstGeom>
          <a:noFill/>
        </p:spPr>
        <p:txBody>
          <a:bodyPr wrap="square" anchor="t">
            <a:spAutoFit/>
          </a:bodyPr>
          <a:lstStyle/>
          <a:p>
            <a:pPr algn="r">
              <a:defRPr sz="2200" b="1" i="0">
                <a:solidFill>
                  <a:srgbClr val="D6E5EF"/>
                </a:solidFill>
                <a:latin typeface="Lora"/>
              </a:defRPr>
            </a:pPr>
            <a:r>
              <a:t>Жаңа табыс көзі</a:t>
            </a:r>
          </a:p>
        </p:txBody>
      </p:sp>
      <p:sp>
        <p:nvSpPr>
          <p:cNvPr id="7" name="TextBox 6"/>
          <p:cNvSpPr txBox="1"/>
          <p:nvPr/>
        </p:nvSpPr>
        <p:spPr>
          <a:xfrm>
            <a:off x="1016000" y="4000500"/>
            <a:ext cx="3810000" cy="2540000"/>
          </a:xfrm>
          <a:prstGeom prst="rect">
            <a:avLst/>
          </a:prstGeom>
          <a:noFill/>
        </p:spPr>
        <p:txBody>
          <a:bodyPr wrap="square" anchor="t">
            <a:spAutoFit/>
          </a:bodyPr>
          <a:lstStyle/>
          <a:p>
            <a:pPr algn="r">
              <a:defRPr sz="1800" b="0" i="0">
                <a:solidFill>
                  <a:srgbClr val="D6E5EF"/>
                </a:solidFill>
                <a:latin typeface="Source Sans Pro"/>
              </a:defRPr>
            </a:pPr>
            <a:r>
              <a:t>Компаниялар API-ге қолжетімділікті сату арқылы тікелей табыс таба алады. Бұл деректер мен функцияларға ақылы қолжетімділік түрінде болады.</a:t>
            </a:r>
          </a:p>
        </p:txBody>
      </p:sp>
      <p:pic>
        <p:nvPicPr>
          <p:cNvPr id="8" name="Picture 7" descr="image.png"/>
          <p:cNvPicPr>
            <a:picLocks noChangeAspect="1"/>
          </p:cNvPicPr>
          <p:nvPr/>
        </p:nvPicPr>
        <p:blipFill>
          <a:blip r:embed="rId5"/>
          <a:stretch>
            <a:fillRect/>
          </a:stretch>
        </p:blipFill>
        <p:spPr>
          <a:xfrm>
            <a:off x="5651500" y="4508500"/>
            <a:ext cx="355600" cy="355600"/>
          </a:xfrm>
          <a:prstGeom prst="rect">
            <a:avLst/>
          </a:prstGeom>
        </p:spPr>
      </p:pic>
      <p:sp>
        <p:nvSpPr>
          <p:cNvPr id="9" name="TextBox 8"/>
          <p:cNvSpPr txBox="1"/>
          <p:nvPr/>
        </p:nvSpPr>
        <p:spPr>
          <a:xfrm>
            <a:off x="9804400" y="2794000"/>
            <a:ext cx="4445000" cy="381000"/>
          </a:xfrm>
          <a:prstGeom prst="rect">
            <a:avLst/>
          </a:prstGeom>
          <a:noFill/>
        </p:spPr>
        <p:txBody>
          <a:bodyPr wrap="square" anchor="t">
            <a:spAutoFit/>
          </a:bodyPr>
          <a:lstStyle/>
          <a:p>
            <a:pPr algn="l">
              <a:defRPr sz="2200" b="1" i="0">
                <a:solidFill>
                  <a:srgbClr val="D6E5EF"/>
                </a:solidFill>
                <a:latin typeface="Lora"/>
              </a:defRPr>
            </a:pPr>
            <a:r>
              <a:t>Бизнес-модельдер</a:t>
            </a:r>
          </a:p>
        </p:txBody>
      </p:sp>
      <p:sp>
        <p:nvSpPr>
          <p:cNvPr id="10" name="TextBox 9"/>
          <p:cNvSpPr txBox="1"/>
          <p:nvPr/>
        </p:nvSpPr>
        <p:spPr>
          <a:xfrm>
            <a:off x="9804400" y="3238500"/>
            <a:ext cx="3810000" cy="1143000"/>
          </a:xfrm>
          <a:prstGeom prst="rect">
            <a:avLst/>
          </a:prstGeom>
          <a:noFill/>
        </p:spPr>
        <p:txBody>
          <a:bodyPr wrap="square" anchor="t">
            <a:spAutoFit/>
          </a:bodyPr>
          <a:lstStyle/>
          <a:p>
            <a:pPr algn="l">
              <a:defRPr sz="1800" b="0" i="0">
                <a:solidFill>
                  <a:srgbClr val="D6E5EF"/>
                </a:solidFill>
                <a:latin typeface="Source Sans Pro"/>
              </a:defRPr>
            </a:pPr>
            <a:r>
              <a:t>"API-as-a-Service" сияқты жаңа бизнес-модельдер пайда болады. Бұл API-ді негізгі өнім ретінде ұсынуды білдіреді.</a:t>
            </a:r>
          </a:p>
        </p:txBody>
      </p:sp>
      <p:pic>
        <p:nvPicPr>
          <p:cNvPr id="11" name="Picture 10" descr="image.png"/>
          <p:cNvPicPr>
            <a:picLocks noChangeAspect="1"/>
          </p:cNvPicPr>
          <p:nvPr/>
        </p:nvPicPr>
        <p:blipFill>
          <a:blip r:embed="rId6"/>
          <a:stretch>
            <a:fillRect/>
          </a:stretch>
        </p:blipFill>
        <p:spPr>
          <a:xfrm>
            <a:off x="7975600" y="3302000"/>
            <a:ext cx="355600" cy="355600"/>
          </a:xfrm>
          <a:prstGeom prst="rect">
            <a:avLst/>
          </a:prstGeom>
        </p:spPr>
      </p:pic>
      <p:sp>
        <p:nvSpPr>
          <p:cNvPr id="12" name="TextBox 11"/>
          <p:cNvSpPr txBox="1"/>
          <p:nvPr/>
        </p:nvSpPr>
        <p:spPr>
          <a:xfrm>
            <a:off x="9804400" y="4953000"/>
            <a:ext cx="4445000" cy="381000"/>
          </a:xfrm>
          <a:prstGeom prst="rect">
            <a:avLst/>
          </a:prstGeom>
          <a:noFill/>
        </p:spPr>
        <p:txBody>
          <a:bodyPr wrap="square" anchor="t">
            <a:spAutoFit/>
          </a:bodyPr>
          <a:lstStyle/>
          <a:p>
            <a:pPr algn="l">
              <a:defRPr sz="2200" b="1" i="0">
                <a:solidFill>
                  <a:srgbClr val="D6E5EF"/>
                </a:solidFill>
                <a:latin typeface="Lora"/>
              </a:defRPr>
            </a:pPr>
            <a:r>
              <a:t>Инновациялық әлеует</a:t>
            </a:r>
          </a:p>
        </p:txBody>
      </p:sp>
      <p:sp>
        <p:nvSpPr>
          <p:cNvPr id="13" name="TextBox 12"/>
          <p:cNvSpPr txBox="1"/>
          <p:nvPr/>
        </p:nvSpPr>
        <p:spPr>
          <a:xfrm>
            <a:off x="9804400" y="5397500"/>
            <a:ext cx="3810000" cy="1143000"/>
          </a:xfrm>
          <a:prstGeom prst="rect">
            <a:avLst/>
          </a:prstGeom>
          <a:noFill/>
        </p:spPr>
        <p:txBody>
          <a:bodyPr wrap="square" anchor="t">
            <a:spAutoFit/>
          </a:bodyPr>
          <a:lstStyle/>
          <a:p>
            <a:pPr algn="l">
              <a:defRPr sz="1800" b="0" i="0">
                <a:solidFill>
                  <a:srgbClr val="D6E5EF"/>
                </a:solidFill>
                <a:latin typeface="Source Sans Pro"/>
              </a:defRPr>
            </a:pPr>
            <a:r>
              <a:t>API-лер компаниялардың инновациялық әлеуетін арттырады. Олар жаңа нарықтарға шығуға және серіктестіктер құруға көмектеседі.</a:t>
            </a:r>
          </a:p>
        </p:txBody>
      </p:sp>
      <p:pic>
        <p:nvPicPr>
          <p:cNvPr id="14" name="Picture 13" descr="image.png"/>
          <p:cNvPicPr>
            <a:picLocks noChangeAspect="1"/>
          </p:cNvPicPr>
          <p:nvPr/>
        </p:nvPicPr>
        <p:blipFill>
          <a:blip r:embed="rId7"/>
          <a:stretch>
            <a:fillRect/>
          </a:stretch>
        </p:blipFill>
        <p:spPr>
          <a:xfrm>
            <a:off x="7874000" y="5816600"/>
            <a:ext cx="355600" cy="355600"/>
          </a:xfrm>
          <a:prstGeom prst="rect">
            <a:avLst/>
          </a:prstGeom>
        </p:spPr>
      </p:pic>
      <p:sp>
        <p:nvSpPr>
          <p:cNvPr id="15" name="TextBox 14"/>
          <p:cNvSpPr txBox="1"/>
          <p:nvPr/>
        </p:nvSpPr>
        <p:spPr>
          <a:xfrm>
            <a:off x="762000" y="7239000"/>
            <a:ext cx="12700000" cy="762000"/>
          </a:xfrm>
          <a:prstGeom prst="rect">
            <a:avLst/>
          </a:prstGeom>
          <a:noFill/>
        </p:spPr>
        <p:txBody>
          <a:bodyPr wrap="square" anchor="t">
            <a:spAutoFit/>
          </a:bodyPr>
          <a:lstStyle/>
          <a:p>
            <a:pPr algn="l">
              <a:defRPr sz="1800" b="0" i="0">
                <a:solidFill>
                  <a:srgbClr val="D6E5EF"/>
                </a:solidFill>
                <a:latin typeface="Source Sans Pro"/>
              </a:defRPr>
            </a:pPr>
            <a:r>
              <a:t>API экономикасы компанияларға өз ресурстарын тиімді пайдалануға, жаңа мүмкіндіктерді ашуға және цифрлық трансформацияны жеделдетуге көмектеседі. Бұл жаңа бизнес құндылығын жасаудың маңызды факторы.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556000"/>
            <a:ext cx="12700000" cy="1270000"/>
          </a:xfrm>
          <a:prstGeom prst="rect">
            <a:avLst/>
          </a:prstGeom>
          <a:noFill/>
        </p:spPr>
        <p:txBody>
          <a:bodyPr wrap="square" anchor="t">
            <a:spAutoFit/>
          </a:bodyPr>
          <a:lstStyle/>
          <a:p>
            <a:pPr algn="l">
              <a:defRPr sz="4400" b="1" i="0">
                <a:solidFill>
                  <a:srgbClr val="F98AC7"/>
                </a:solidFill>
                <a:latin typeface="Lora"/>
              </a:defRPr>
            </a:pPr>
            <a:r>
              <a:t>API стратегиясын құру</a:t>
            </a:r>
          </a:p>
        </p:txBody>
      </p:sp>
      <p:sp>
        <p:nvSpPr>
          <p:cNvPr id="4" name="Rounded Rectangle 3"/>
          <p:cNvSpPr/>
          <p:nvPr/>
        </p:nvSpPr>
        <p:spPr>
          <a:xfrm>
            <a:off x="1073150" y="4508500"/>
            <a:ext cx="12700" cy="33020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47625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45085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1</a:t>
            </a:r>
          </a:p>
        </p:txBody>
      </p:sp>
      <p:sp>
        <p:nvSpPr>
          <p:cNvPr id="7" name="Rounded Rectangle 6"/>
          <p:cNvSpPr/>
          <p:nvPr/>
        </p:nvSpPr>
        <p:spPr>
          <a:xfrm>
            <a:off x="1270000" y="49466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5969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5702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2</a:t>
            </a:r>
          </a:p>
        </p:txBody>
      </p:sp>
      <p:sp>
        <p:nvSpPr>
          <p:cNvPr id="10" name="Rounded Rectangle 9"/>
          <p:cNvSpPr/>
          <p:nvPr/>
        </p:nvSpPr>
        <p:spPr>
          <a:xfrm>
            <a:off x="1270000" y="6153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7239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6972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3</a:t>
            </a:r>
          </a:p>
        </p:txBody>
      </p:sp>
      <p:sp>
        <p:nvSpPr>
          <p:cNvPr id="13" name="Rounded Rectangle 12"/>
          <p:cNvSpPr/>
          <p:nvPr/>
        </p:nvSpPr>
        <p:spPr>
          <a:xfrm>
            <a:off x="1270000" y="7423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4508500"/>
            <a:ext cx="12700000" cy="381000"/>
          </a:xfrm>
          <a:prstGeom prst="rect">
            <a:avLst/>
          </a:prstGeom>
          <a:noFill/>
        </p:spPr>
        <p:txBody>
          <a:bodyPr wrap="square" anchor="t">
            <a:spAutoFit/>
          </a:bodyPr>
          <a:lstStyle/>
          <a:p>
            <a:pPr algn="l">
              <a:defRPr sz="2200" b="1" i="0">
                <a:solidFill>
                  <a:srgbClr val="D6E5EF"/>
                </a:solidFill>
                <a:latin typeface="Lora"/>
              </a:defRPr>
            </a:pPr>
            <a:r>
              <a:t>Стратегия анықтамасы</a:t>
            </a:r>
          </a:p>
        </p:txBody>
      </p:sp>
      <p:sp>
        <p:nvSpPr>
          <p:cNvPr id="15" name="TextBox 14"/>
          <p:cNvSpPr txBox="1"/>
          <p:nvPr/>
        </p:nvSpPr>
        <p:spPr>
          <a:xfrm>
            <a:off x="1905000" y="4889500"/>
            <a:ext cx="12700000" cy="1143000"/>
          </a:xfrm>
          <a:prstGeom prst="rect">
            <a:avLst/>
          </a:prstGeom>
          <a:noFill/>
        </p:spPr>
        <p:txBody>
          <a:bodyPr wrap="square" anchor="t">
            <a:spAutoFit/>
          </a:bodyPr>
          <a:lstStyle/>
          <a:p>
            <a:pPr algn="l">
              <a:defRPr sz="1800" b="0" i="0">
                <a:solidFill>
                  <a:srgbClr val="D6E5EF"/>
                </a:solidFill>
                <a:latin typeface="Source Sans Pro"/>
              </a:defRPr>
            </a:pPr>
            <a:r>
              <a:t>API стратегиясы – бұл компанияның API-ді дамыту, басқару және пайдалану жоспары. Ол бизнес мақсаттарына нақты бағытталуы тиіс.</a:t>
            </a:r>
          </a:p>
        </p:txBody>
      </p:sp>
      <p:sp>
        <p:nvSpPr>
          <p:cNvPr id="16" name="TextBox 15"/>
          <p:cNvSpPr txBox="1"/>
          <p:nvPr/>
        </p:nvSpPr>
        <p:spPr>
          <a:xfrm>
            <a:off x="1905000" y="5778500"/>
            <a:ext cx="12700000" cy="381000"/>
          </a:xfrm>
          <a:prstGeom prst="rect">
            <a:avLst/>
          </a:prstGeom>
          <a:noFill/>
        </p:spPr>
        <p:txBody>
          <a:bodyPr wrap="square" anchor="t">
            <a:spAutoFit/>
          </a:bodyPr>
          <a:lstStyle/>
          <a:p>
            <a:pPr algn="l">
              <a:defRPr sz="2200" b="1" i="0">
                <a:solidFill>
                  <a:srgbClr val="D6E5EF"/>
                </a:solidFill>
                <a:latin typeface="Lora"/>
              </a:defRPr>
            </a:pPr>
            <a:r>
              <a:t>Бизнес мақсаттар</a:t>
            </a:r>
          </a:p>
        </p:txBody>
      </p:sp>
      <p:sp>
        <p:nvSpPr>
          <p:cNvPr id="17" name="TextBox 16"/>
          <p:cNvSpPr txBox="1"/>
          <p:nvPr/>
        </p:nvSpPr>
        <p:spPr>
          <a:xfrm>
            <a:off x="1905000" y="6159500"/>
            <a:ext cx="12700000" cy="1143000"/>
          </a:xfrm>
          <a:prstGeom prst="rect">
            <a:avLst/>
          </a:prstGeom>
          <a:noFill/>
        </p:spPr>
        <p:txBody>
          <a:bodyPr wrap="square" anchor="t">
            <a:spAutoFit/>
          </a:bodyPr>
          <a:lstStyle/>
          <a:p>
            <a:pPr algn="l">
              <a:defRPr sz="1800" b="0" i="0">
                <a:solidFill>
                  <a:srgbClr val="D6E5EF"/>
                </a:solidFill>
                <a:latin typeface="Source Sans Pro"/>
              </a:defRPr>
            </a:pPr>
            <a:r>
              <a:t>Стратегия клиенттер базасын кеңейту, операциялық тиімділікті арттыру және жаңа табыс ағындарын құру сияқты нақты бизнес мақсаттарға сәйкес болуы керек.</a:t>
            </a:r>
          </a:p>
        </p:txBody>
      </p:sp>
      <p:sp>
        <p:nvSpPr>
          <p:cNvPr id="18" name="TextBox 17"/>
          <p:cNvSpPr txBox="1"/>
          <p:nvPr/>
        </p:nvSpPr>
        <p:spPr>
          <a:xfrm>
            <a:off x="1905000" y="7048500"/>
            <a:ext cx="12700000" cy="381000"/>
          </a:xfrm>
          <a:prstGeom prst="rect">
            <a:avLst/>
          </a:prstGeom>
          <a:noFill/>
        </p:spPr>
        <p:txBody>
          <a:bodyPr wrap="square" anchor="t">
            <a:spAutoFit/>
          </a:bodyPr>
          <a:lstStyle/>
          <a:p>
            <a:pPr algn="l">
              <a:defRPr sz="2200" b="1" i="0">
                <a:solidFill>
                  <a:srgbClr val="D6E5EF"/>
                </a:solidFill>
                <a:latin typeface="Lora"/>
              </a:defRPr>
            </a:pPr>
            <a:r>
              <a:t>Маңызды компоненттер</a:t>
            </a:r>
          </a:p>
        </p:txBody>
      </p:sp>
      <p:sp>
        <p:nvSpPr>
          <p:cNvPr id="19" name="TextBox 18"/>
          <p:cNvSpPr txBox="1"/>
          <p:nvPr/>
        </p:nvSpPr>
        <p:spPr>
          <a:xfrm>
            <a:off x="1905000" y="7429500"/>
            <a:ext cx="12700000" cy="1143000"/>
          </a:xfrm>
          <a:prstGeom prst="rect">
            <a:avLst/>
          </a:prstGeom>
          <a:noFill/>
        </p:spPr>
        <p:txBody>
          <a:bodyPr wrap="square" anchor="t">
            <a:spAutoFit/>
          </a:bodyPr>
          <a:lstStyle/>
          <a:p>
            <a:pPr algn="l">
              <a:defRPr sz="1800" b="0" i="0">
                <a:solidFill>
                  <a:srgbClr val="D6E5EF"/>
                </a:solidFill>
                <a:latin typeface="Source Sans Pro"/>
              </a:defRPr>
            </a:pPr>
            <a:r>
              <a:t>API-дің сапалы құжаттамасы, қауіпсіздігі, сенімділігі және әзірлеушілерге қолдау көрсету табысты стратегияның маңызды бөлігі болып саналады.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762000" y="1905000"/>
            <a:ext cx="12700000" cy="1143000"/>
          </a:xfrm>
          <a:prstGeom prst="rect">
            <a:avLst/>
          </a:prstGeom>
          <a:noFill/>
        </p:spPr>
        <p:txBody>
          <a:bodyPr wrap="square" anchor="t">
            <a:spAutoFit/>
          </a:bodyPr>
          <a:lstStyle/>
          <a:p>
            <a:pPr algn="l">
              <a:defRPr sz="4400" b="1" i="0">
                <a:solidFill>
                  <a:srgbClr val="F98AC7"/>
                </a:solidFill>
                <a:latin typeface="Lora"/>
              </a:defRPr>
            </a:pPr>
            <a:r>
              <a:t>API қауіпсіздігі</a:t>
            </a:r>
          </a:p>
        </p:txBody>
      </p:sp>
      <p:sp>
        <p:nvSpPr>
          <p:cNvPr id="3" name="Rounded Rectangle 2"/>
          <p:cNvSpPr/>
          <p:nvPr/>
        </p:nvSpPr>
        <p:spPr>
          <a:xfrm>
            <a:off x="1016000" y="30480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24000" y="3009900"/>
            <a:ext cx="11430000" cy="381000"/>
          </a:xfrm>
          <a:prstGeom prst="rect">
            <a:avLst/>
          </a:prstGeom>
          <a:noFill/>
        </p:spPr>
        <p:txBody>
          <a:bodyPr wrap="square" anchor="t">
            <a:spAutoFit/>
          </a:bodyPr>
          <a:lstStyle/>
          <a:p>
            <a:pPr algn="l">
              <a:defRPr sz="2200" b="1" i="0">
                <a:solidFill>
                  <a:srgbClr val="D6E5EF"/>
                </a:solidFill>
                <a:latin typeface="Lora"/>
              </a:defRPr>
            </a:pPr>
            <a:r>
              <a:t>Маңыздылығы</a:t>
            </a:r>
          </a:p>
        </p:txBody>
      </p:sp>
      <p:sp>
        <p:nvSpPr>
          <p:cNvPr id="5" name="TextBox 4"/>
          <p:cNvSpPr txBox="1"/>
          <p:nvPr/>
        </p:nvSpPr>
        <p:spPr>
          <a:xfrm>
            <a:off x="1524000" y="3429000"/>
            <a:ext cx="11430000" cy="1143000"/>
          </a:xfrm>
          <a:prstGeom prst="rect">
            <a:avLst/>
          </a:prstGeom>
          <a:noFill/>
        </p:spPr>
        <p:txBody>
          <a:bodyPr wrap="square" anchor="t">
            <a:spAutoFit/>
          </a:bodyPr>
          <a:lstStyle/>
          <a:p>
            <a:pPr algn="l">
              <a:defRPr sz="1800" b="0" i="0">
                <a:solidFill>
                  <a:srgbClr val="D6E5EF"/>
                </a:solidFill>
                <a:latin typeface="Source Sans Pro"/>
              </a:defRPr>
            </a:pPr>
            <a:r>
              <a:t>API қауіпсіздігі – бұл деректерді қорғау және рұқсатсыз қол жетімділікті болдырмау үшін өте маңызды процесс. Ол бизнес-процестердің үздіксіздігі мен клиенттер сенімін сақтауға көмектеседі.</a:t>
            </a:r>
          </a:p>
        </p:txBody>
      </p:sp>
      <p:pic>
        <p:nvPicPr>
          <p:cNvPr id="6" name="Picture 5" descr="image.png"/>
          <p:cNvPicPr>
            <a:picLocks noChangeAspect="1"/>
          </p:cNvPicPr>
          <p:nvPr/>
        </p:nvPicPr>
        <p:blipFill>
          <a:blip r:embed="rId2"/>
          <a:stretch>
            <a:fillRect/>
          </a:stretch>
        </p:blipFill>
        <p:spPr>
          <a:xfrm>
            <a:off x="1111250" y="3143250"/>
            <a:ext cx="254000" cy="254000"/>
          </a:xfrm>
          <a:prstGeom prst="rect">
            <a:avLst/>
          </a:prstGeom>
        </p:spPr>
      </p:pic>
      <p:sp>
        <p:nvSpPr>
          <p:cNvPr id="7" name="Rounded Rectangle 6"/>
          <p:cNvSpPr/>
          <p:nvPr/>
        </p:nvSpPr>
        <p:spPr>
          <a:xfrm>
            <a:off x="1016000" y="51435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0" y="5105400"/>
            <a:ext cx="11430000" cy="381000"/>
          </a:xfrm>
          <a:prstGeom prst="rect">
            <a:avLst/>
          </a:prstGeom>
          <a:noFill/>
        </p:spPr>
        <p:txBody>
          <a:bodyPr wrap="square" anchor="t">
            <a:spAutoFit/>
          </a:bodyPr>
          <a:lstStyle/>
          <a:p>
            <a:pPr algn="l">
              <a:defRPr sz="2200" b="1" i="0">
                <a:solidFill>
                  <a:srgbClr val="D6E5EF"/>
                </a:solidFill>
                <a:latin typeface="Lora"/>
              </a:defRPr>
            </a:pPr>
            <a:r>
              <a:t>Негізгі шаралар</a:t>
            </a:r>
          </a:p>
        </p:txBody>
      </p:sp>
      <p:sp>
        <p:nvSpPr>
          <p:cNvPr id="9" name="TextBox 8"/>
          <p:cNvSpPr txBox="1"/>
          <p:nvPr/>
        </p:nvSpPr>
        <p:spPr>
          <a:xfrm>
            <a:off x="1524000" y="5524500"/>
            <a:ext cx="11430000" cy="1143000"/>
          </a:xfrm>
          <a:prstGeom prst="rect">
            <a:avLst/>
          </a:prstGeom>
          <a:noFill/>
        </p:spPr>
        <p:txBody>
          <a:bodyPr wrap="square" anchor="t">
            <a:spAutoFit/>
          </a:bodyPr>
          <a:lstStyle/>
          <a:p>
            <a:pPr algn="l">
              <a:defRPr sz="1800" b="0" i="0">
                <a:solidFill>
                  <a:srgbClr val="D6E5EF"/>
                </a:solidFill>
                <a:latin typeface="Source Sans Pro"/>
              </a:defRPr>
            </a:pPr>
            <a:r>
              <a:t>Қауіпсіздік шараларына аутентификация (кім кіргенін анықтау) және авторизация (рұқсат етілген әрекеттерді шектеу) кіреді. Бұл жүйенің қорғалғанын қамтамасыз етеді.</a:t>
            </a:r>
          </a:p>
        </p:txBody>
      </p:sp>
      <p:pic>
        <p:nvPicPr>
          <p:cNvPr id="10" name="Picture 9" descr="image.png"/>
          <p:cNvPicPr>
            <a:picLocks noChangeAspect="1"/>
          </p:cNvPicPr>
          <p:nvPr/>
        </p:nvPicPr>
        <p:blipFill>
          <a:blip r:embed="rId3"/>
          <a:stretch>
            <a:fillRect/>
          </a:stretch>
        </p:blipFill>
        <p:spPr>
          <a:xfrm>
            <a:off x="1111250" y="5238750"/>
            <a:ext cx="254000" cy="254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F98AC7"/>
                </a:solidFill>
                <a:latin typeface="Lora"/>
              </a:defRPr>
            </a:pPr>
            <a:r>
              <a:t>API-ді пайдалану мысалдары</a:t>
            </a:r>
          </a:p>
        </p:txBody>
      </p:sp>
      <p:sp>
        <p:nvSpPr>
          <p:cNvPr id="4" name="Rounded Rectangle 3"/>
          <p:cNvSpPr/>
          <p:nvPr/>
        </p:nvSpPr>
        <p:spPr>
          <a:xfrm>
            <a:off x="7620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D6E5EF"/>
                </a:solidFill>
                <a:latin typeface="Lora"/>
              </a:defRPr>
            </a:pPr>
            <a:r>
              <a:t>Әлеуметтік желілер</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Әлеуметтік желілердің API-лері қолданушыларға басқа қосымшаларда тіркелуге, өз парақшаларындағы контентті бөлісуге және басқа да әлеуметтік функцияларды орындауға мүмкіндік береді.</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D6E5EF"/>
                </a:solidFill>
                <a:latin typeface="Lora"/>
              </a:defRPr>
            </a:pPr>
            <a:r>
              <a:t>Төлем жүйелері</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Онлайн дүкендер төлем жүйелерінің API-лерін пайдалана отырып, клиенттерден төлемдерді қабылдауды және өңдеуді автоматтандырады, бұл транзакцияларды қауіпсіз және тиімді етеді.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254000"/>
            <a:ext cx="8128000" cy="2120900"/>
          </a:xfrm>
          <a:prstGeom prst="rect">
            <a:avLst/>
          </a:prstGeom>
          <a:noFill/>
        </p:spPr>
        <p:txBody>
          <a:bodyPr wrap="square" anchor="b">
            <a:spAutoFit/>
          </a:bodyPr>
          <a:lstStyle/>
          <a:p>
            <a:pPr algn="l">
              <a:defRPr sz="4400" b="1" i="0">
                <a:solidFill>
                  <a:srgbClr val="F98AC7"/>
                </a:solidFill>
                <a:latin typeface="Lora"/>
              </a:defRPr>
            </a:pPr>
            <a:r>
              <a:t>API-ді дамытудың болашағы</a:t>
            </a:r>
          </a:p>
        </p:txBody>
      </p:sp>
      <p:sp>
        <p:nvSpPr>
          <p:cNvPr id="4" name="Rounded Rectangle 3"/>
          <p:cNvSpPr/>
          <p:nvPr/>
        </p:nvSpPr>
        <p:spPr>
          <a:xfrm>
            <a:off x="1073150" y="2984500"/>
            <a:ext cx="12700" cy="33020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317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9210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1</a:t>
            </a:r>
          </a:p>
        </p:txBody>
      </p:sp>
      <p:sp>
        <p:nvSpPr>
          <p:cNvPr id="7" name="Rounded Rectangle 6"/>
          <p:cNvSpPr/>
          <p:nvPr/>
        </p:nvSpPr>
        <p:spPr>
          <a:xfrm>
            <a:off x="1270000" y="335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444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417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2</a:t>
            </a:r>
          </a:p>
        </p:txBody>
      </p:sp>
      <p:sp>
        <p:nvSpPr>
          <p:cNvPr id="10" name="Rounded Rectangle 9"/>
          <p:cNvSpPr/>
          <p:nvPr/>
        </p:nvSpPr>
        <p:spPr>
          <a:xfrm>
            <a:off x="1270000" y="462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571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544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3</a:t>
            </a:r>
          </a:p>
        </p:txBody>
      </p:sp>
      <p:sp>
        <p:nvSpPr>
          <p:cNvPr id="13" name="Rounded Rectangle 12"/>
          <p:cNvSpPr/>
          <p:nvPr/>
        </p:nvSpPr>
        <p:spPr>
          <a:xfrm>
            <a:off x="1270000" y="589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2984500"/>
            <a:ext cx="6985000" cy="381000"/>
          </a:xfrm>
          <a:prstGeom prst="rect">
            <a:avLst/>
          </a:prstGeom>
          <a:noFill/>
        </p:spPr>
        <p:txBody>
          <a:bodyPr wrap="square" anchor="t">
            <a:spAutoFit/>
          </a:bodyPr>
          <a:lstStyle/>
          <a:p>
            <a:pPr algn="l">
              <a:defRPr sz="2200" b="1" i="0">
                <a:solidFill>
                  <a:srgbClr val="D6E5EF"/>
                </a:solidFill>
                <a:latin typeface="Lora"/>
              </a:defRPr>
            </a:pPr>
            <a:r>
              <a:t>Цифрландырудың негізі</a:t>
            </a:r>
          </a:p>
        </p:txBody>
      </p:sp>
      <p:sp>
        <p:nvSpPr>
          <p:cNvPr id="15" name="TextBox 14"/>
          <p:cNvSpPr txBox="1"/>
          <p:nvPr/>
        </p:nvSpPr>
        <p:spPr>
          <a:xfrm>
            <a:off x="1905000" y="3365500"/>
            <a:ext cx="6985000" cy="1143000"/>
          </a:xfrm>
          <a:prstGeom prst="rect">
            <a:avLst/>
          </a:prstGeom>
          <a:noFill/>
        </p:spPr>
        <p:txBody>
          <a:bodyPr wrap="square" anchor="t">
            <a:spAutoFit/>
          </a:bodyPr>
          <a:lstStyle/>
          <a:p>
            <a:pPr algn="l">
              <a:defRPr sz="1800" b="0" i="0">
                <a:solidFill>
                  <a:srgbClr val="D6E5EF"/>
                </a:solidFill>
                <a:latin typeface="Source Sans Pro"/>
              </a:defRPr>
            </a:pPr>
            <a:r>
              <a:t>API-лер бизнесті цифрландырудың негізгі құрамдас бөлігі болып қала береді. Олар жүйелер арасындағы байланысты жеңілдетеді.</a:t>
            </a:r>
          </a:p>
        </p:txBody>
      </p:sp>
      <p:sp>
        <p:nvSpPr>
          <p:cNvPr id="16" name="TextBox 15"/>
          <p:cNvSpPr txBox="1"/>
          <p:nvPr/>
        </p:nvSpPr>
        <p:spPr>
          <a:xfrm>
            <a:off x="1905000" y="4254500"/>
            <a:ext cx="6985000" cy="381000"/>
          </a:xfrm>
          <a:prstGeom prst="rect">
            <a:avLst/>
          </a:prstGeom>
          <a:noFill/>
        </p:spPr>
        <p:txBody>
          <a:bodyPr wrap="square" anchor="t">
            <a:spAutoFit/>
          </a:bodyPr>
          <a:lstStyle/>
          <a:p>
            <a:pPr algn="l">
              <a:defRPr sz="2200" b="1" i="0">
                <a:solidFill>
                  <a:srgbClr val="D6E5EF"/>
                </a:solidFill>
                <a:latin typeface="Lora"/>
              </a:defRPr>
            </a:pPr>
            <a:r>
              <a:t>AI және ML интеграциясы</a:t>
            </a:r>
          </a:p>
        </p:txBody>
      </p:sp>
      <p:sp>
        <p:nvSpPr>
          <p:cNvPr id="17" name="TextBox 16"/>
          <p:cNvSpPr txBox="1"/>
          <p:nvPr/>
        </p:nvSpPr>
        <p:spPr>
          <a:xfrm>
            <a:off x="1905000" y="4635500"/>
            <a:ext cx="6985000" cy="1143000"/>
          </a:xfrm>
          <a:prstGeom prst="rect">
            <a:avLst/>
          </a:prstGeom>
          <a:noFill/>
        </p:spPr>
        <p:txBody>
          <a:bodyPr wrap="square" anchor="t">
            <a:spAutoFit/>
          </a:bodyPr>
          <a:lstStyle/>
          <a:p>
            <a:pPr algn="l">
              <a:defRPr sz="1800" b="0" i="0">
                <a:solidFill>
                  <a:srgbClr val="D6E5EF"/>
                </a:solidFill>
                <a:latin typeface="Source Sans Pro"/>
              </a:defRPr>
            </a:pPr>
            <a:r>
              <a:t>Жасанды интеллект пен машиналық оқыту API-лер арқылы интеграцияланады. Бұл жаңа, интеллектуалды шешімдер мен мүмкіндіктер тудырады.</a:t>
            </a:r>
          </a:p>
        </p:txBody>
      </p:sp>
      <p:sp>
        <p:nvSpPr>
          <p:cNvPr id="18" name="TextBox 17"/>
          <p:cNvSpPr txBox="1"/>
          <p:nvPr/>
        </p:nvSpPr>
        <p:spPr>
          <a:xfrm>
            <a:off x="1905000" y="5524500"/>
            <a:ext cx="6985000" cy="381000"/>
          </a:xfrm>
          <a:prstGeom prst="rect">
            <a:avLst/>
          </a:prstGeom>
          <a:noFill/>
        </p:spPr>
        <p:txBody>
          <a:bodyPr wrap="square" anchor="t">
            <a:spAutoFit/>
          </a:bodyPr>
          <a:lstStyle/>
          <a:p>
            <a:pPr algn="l">
              <a:defRPr sz="2200" b="1" i="0">
                <a:solidFill>
                  <a:srgbClr val="D6E5EF"/>
                </a:solidFill>
                <a:latin typeface="Lora"/>
              </a:defRPr>
            </a:pPr>
            <a:r>
              <a:t>IoT және байланыс</a:t>
            </a:r>
          </a:p>
        </p:txBody>
      </p:sp>
      <p:sp>
        <p:nvSpPr>
          <p:cNvPr id="19" name="TextBox 18"/>
          <p:cNvSpPr txBox="1"/>
          <p:nvPr/>
        </p:nvSpPr>
        <p:spPr>
          <a:xfrm>
            <a:off x="1905000" y="5905500"/>
            <a:ext cx="6985000" cy="1143000"/>
          </a:xfrm>
          <a:prstGeom prst="rect">
            <a:avLst/>
          </a:prstGeom>
          <a:noFill/>
        </p:spPr>
        <p:txBody>
          <a:bodyPr wrap="square" anchor="t">
            <a:spAutoFit/>
          </a:bodyPr>
          <a:lstStyle/>
          <a:p>
            <a:pPr algn="l">
              <a:defRPr sz="1800" b="0" i="0">
                <a:solidFill>
                  <a:srgbClr val="D6E5EF"/>
                </a:solidFill>
                <a:latin typeface="Source Sans Pro"/>
              </a:defRPr>
            </a:pPr>
            <a:r>
              <a:t>API-лер әртүрлі жүйелер мен платформалар арасындағы байланысты жеңілдетеді. Бұл "интернеттің заттары" (IoT) сияқты технологиялардың дамуына әкеледі.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1524000"/>
            <a:ext cx="7543800" cy="1905000"/>
          </a:xfrm>
          <a:prstGeom prst="rect">
            <a:avLst/>
          </a:prstGeom>
          <a:noFill/>
        </p:spPr>
        <p:txBody>
          <a:bodyPr wrap="square" anchor="b">
            <a:spAutoFit/>
          </a:bodyPr>
          <a:lstStyle/>
          <a:p>
            <a:pPr algn="l">
              <a:defRPr sz="4400" b="1" i="0">
                <a:solidFill>
                  <a:srgbClr val="F98AC7"/>
                </a:solidFill>
                <a:latin typeface="Lora"/>
              </a:defRPr>
            </a:pPr>
            <a:r>
              <a:t>Қорытынды</a:t>
            </a:r>
          </a:p>
        </p:txBody>
      </p:sp>
      <p:sp>
        <p:nvSpPr>
          <p:cNvPr id="4" name="TextBox 3"/>
          <p:cNvSpPr txBox="1"/>
          <p:nvPr/>
        </p:nvSpPr>
        <p:spPr>
          <a:xfrm>
            <a:off x="762000" y="3937000"/>
            <a:ext cx="7543800" cy="1803400"/>
          </a:xfrm>
          <a:prstGeom prst="rect">
            <a:avLst/>
          </a:prstGeom>
          <a:noFill/>
        </p:spPr>
        <p:txBody>
          <a:bodyPr wrap="square" anchor="t">
            <a:spAutoFit/>
          </a:bodyPr>
          <a:lstStyle/>
          <a:p>
            <a:pPr algn="l">
              <a:defRPr sz="1800" b="0" i="0">
                <a:solidFill>
                  <a:srgbClr val="D6E5EF"/>
                </a:solidFill>
                <a:latin typeface="Source Sans Pro"/>
              </a:defRPr>
            </a:pPr>
            <a:r>
              <a:t>API-лер қазіргі бизнес ландшафтындағы маңызды құрал болып табылады, олар жаңа мүмкіндіктер ашып, операциялық тиімділікті арттырады және инновацияға серпін береді. API стратегиясын мұқият әзірлеу және қауіпсіздік шараларын қамтамасыз ету, компаниялардың цифрлық трансформациясын табысты жүзеге асыруына және нарықтағы бәсекеге қабілеттілігін сақтауына негіз қалайды. API-лер болашақта да технологиялық дамудың және бизнес-процестерді оңтайландырудың маңызды факторы ретінде қала бермек.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